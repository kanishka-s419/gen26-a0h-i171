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nesis Ideathon" id="{738414BB-E90B-39D7-38DA-935763612684}">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30"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89151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SIS COVER">
    <p:bg>
      <p:bgPr>
        <a:solidFill>
          <a:schemeClr val="tx2"/>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ENESIS 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10911535" y="320040"/>
            <a:ext cx="822960" cy="822960"/>
          </a:xfrm>
          <a:prstGeom prst="roundRect">
            <a:avLst>
              <a:gd name="adj" fmla="val 13333"/>
            </a:avLst>
          </a:prstGeom>
          <a:solidFill>
            <a:schemeClr val="bg1"/>
          </a:solidFill>
          <a:ln w="9525">
            <a:solidFill>
              <a:schemeClr val="accent6"/>
            </a:solidFill>
          </a:ln>
        </p:spPr>
        <p:txBody>
          <a:bodyPr wrap="square" rtlCol="0" anchor="ctr"/>
          <a:lstStyle/>
          <a:p>
            <a:pPr marL="0" indent="0">
              <a:buNone/>
            </a:pPr>
            <a:endParaRPr lang="en-US" dirty="0"/>
          </a:p>
        </p:txBody>
      </p:sp>
      <p:pic>
        <p:nvPicPr>
          <p:cNvPr id="3" name="Image 0" descr="Genesis logo"/>
          <p:cNvPicPr>
            <a:picLocks noChangeAspect="1"/>
          </p:cNvPicPr>
          <p:nvPr/>
        </p:nvPicPr>
        <p:blipFill>
          <a:blip r:embed="rId2"/>
          <a:stretch>
            <a:fillRect/>
          </a:stretch>
        </p:blipFill>
        <p:spPr>
          <a:xfrm>
            <a:off x="11055950" y="384048"/>
            <a:ext cx="534131" cy="694944"/>
          </a:xfrm>
          <a:prstGeom prst="rect">
            <a:avLst/>
          </a:prstGeom>
        </p:spPr>
      </p:pic>
      <p:sp>
        <p:nvSpPr>
          <p:cNvPr id="4" name="Shape 1"/>
          <p:cNvSpPr/>
          <p:nvPr/>
        </p:nvSpPr>
        <p:spPr>
          <a:xfrm>
            <a:off x="0" y="6355080"/>
            <a:ext cx="12191695" cy="502920"/>
          </a:xfrm>
          <a:prstGeom prst="rect">
            <a:avLst/>
          </a:prstGeom>
          <a:solidFill>
            <a:schemeClr val="tx2"/>
          </a:solidFill>
          <a:ln/>
        </p:spPr>
      </p:sp>
      <p:sp>
        <p:nvSpPr>
          <p:cNvPr id="5" name="Text 2"/>
          <p:cNvSpPr/>
          <p:nvPr/>
        </p:nvSpPr>
        <p:spPr>
          <a:xfrm>
            <a:off x="2286000" y="6355080"/>
            <a:ext cx="7619695" cy="502920"/>
          </a:xfrm>
          <a:prstGeom prst="rect">
            <a:avLst/>
          </a:prstGeom>
          <a:noFill/>
          <a:ln/>
        </p:spPr>
        <p:txBody>
          <a:bodyPr wrap="square" lIns="0" tIns="0" rIns="0" bIns="0" rtlCol="0" anchor="ctr"/>
          <a:lstStyle/>
          <a:p>
            <a:pPr marL="0" indent="0" algn="ctr">
              <a:buNone/>
            </a:pPr>
            <a:r>
              <a:rPr lang="en-US" sz="1050" kern="0" spc="100" dirty="0">
                <a:solidFill>
                  <a:schemeClr val="accent6"/>
                </a:solidFill>
              </a:rPr>
              <a:t>Genesis Ideathon – Pre-Ideathon Template</a:t>
            </a:r>
            <a:endParaRPr lang="en-US" sz="1050" dirty="0"/>
          </a:p>
        </p:txBody>
      </p:sp>
      <p:sp>
        <p:nvSpPr>
          <p:cNvPr id="6" name="Text 3"/>
          <p:cNvSpPr/>
          <p:nvPr/>
        </p:nvSpPr>
        <p:spPr>
          <a:xfrm>
            <a:off x="11259007" y="6409944"/>
            <a:ext cx="457200" cy="395935"/>
          </a:xfrm>
          <a:prstGeom prst="hexagon">
            <a:avLst/>
          </a:prstGeom>
          <a:solidFill>
            <a:schemeClr val="accent3"/>
          </a:solidFill>
          <a:ln/>
        </p:spPr>
        <p:txBody>
          <a:bodyPr wrap="square" rtlCol="0" anchor="ctr"/>
          <a:lstStyle/>
          <a:p>
            <a:pPr marL="0" indent="0">
              <a:buNone/>
            </a:pPr>
            <a:endParaRPr lang="en-US" dirty="0"/>
          </a:p>
        </p:txBody>
      </p:sp>
      <p:sp>
        <p:nvSpPr>
          <p:cNvPr id="7" name="Text 4"/>
          <p:cNvSpPr/>
          <p:nvPr/>
        </p:nvSpPr>
        <p:spPr>
          <a:xfrm rot="5400000">
            <a:off x="10610311" y="4686300"/>
            <a:ext cx="1425408" cy="1234440"/>
          </a:xfrm>
          <a:prstGeom prst="hexagon">
            <a:avLst/>
          </a:prstGeom>
          <a:ln w="15875">
            <a:solidFill>
              <a:schemeClr val="accent4">
                <a:alpha val="28000"/>
              </a:schemeClr>
            </a:solidFill>
          </a:ln>
        </p:spPr>
        <p:txBody>
          <a:bodyPr wrap="square" rtlCol="0" anchor="ctr"/>
          <a:lstStyle/>
          <a:p>
            <a:pPr marL="0" indent="0">
              <a:buNone/>
            </a:pPr>
            <a:endParaRPr lang="en-US" dirty="0"/>
          </a:p>
        </p:txBody>
      </p:sp>
      <p:sp>
        <p:nvSpPr>
          <p:cNvPr id="8" name="Text 5"/>
          <p:cNvSpPr/>
          <p:nvPr/>
        </p:nvSpPr>
        <p:spPr>
          <a:xfrm rot="5400000">
            <a:off x="9750599" y="5349240"/>
            <a:ext cx="950272" cy="822960"/>
          </a:xfrm>
          <a:prstGeom prst="hexagon">
            <a:avLst/>
          </a:prstGeom>
          <a:ln w="15875">
            <a:solidFill>
              <a:schemeClr val="accent4">
                <a:alpha val="20000"/>
              </a:schemeClr>
            </a:solidFill>
          </a:ln>
        </p:spPr>
        <p:txBody>
          <a:bodyPr wrap="square" rtlCol="0" anchor="ctr"/>
          <a:lstStyle/>
          <a:p>
            <a:pPr marL="0" indent="0">
              <a:buNone/>
            </a:pPr>
            <a:endParaRPr lang="en-US" dirty="0"/>
          </a:p>
        </p:txBody>
      </p:sp>
      <p:sp>
        <p:nvSpPr>
          <p:cNvPr id="9" name="Text 6"/>
          <p:cNvSpPr/>
          <p:nvPr/>
        </p:nvSpPr>
        <p:spPr>
          <a:xfrm rot="5400000">
            <a:off x="11579399" y="3840480"/>
            <a:ext cx="950272" cy="822960"/>
          </a:xfrm>
          <a:prstGeom prst="hexagon">
            <a:avLst/>
          </a:prstGeom>
          <a:ln w="15875">
            <a:solidFill>
              <a:schemeClr val="accent4">
                <a:alpha val="18000"/>
              </a:schemeClr>
            </a:solidFill>
          </a:ln>
        </p:spPr>
        <p:txBody>
          <a:bodyPr wrap="square" rtlCol="0" anchor="ctr"/>
          <a:lstStyle/>
          <a:p>
            <a:pPr marL="0" indent="0">
              <a:buNone/>
            </a:pPr>
            <a:endParaRPr lang="en-US" dirty="0"/>
          </a:p>
        </p:txBody>
      </p:sp>
      <p:sp>
        <p:nvSpPr>
          <p:cNvPr id="10" name="Text 7"/>
          <p:cNvSpPr>
            <a:spLocks noGrp="1"/>
          </p:cNvSpPr>
          <p:nvPr>
            <p:ph type="title" idx="108" hasCustomPrompt="1"/>
          </p:nvPr>
        </p:nvSpPr>
        <p:spPr>
          <a:xfrm>
            <a:off x="3246120" y="320040"/>
            <a:ext cx="7498080" cy="822960"/>
          </a:xfrm>
          <a:prstGeom prst="rect">
            <a:avLst/>
          </a:prstGeom>
          <a:noFill/>
          <a:ln/>
        </p:spPr>
        <p:txBody>
          <a:bodyPr wrap="square" rtlCol="0"/>
          <a:lstStyle>
            <a:lvl1pPr marL="0" indent="0" algn="ctr">
              <a:buNone/>
              <a:defRPr lang="en-US" sz="2400" b="1" kern="0" spc="100" dirty="0">
                <a:solidFill>
                  <a:schemeClr val="tx2"/>
                </a:solidFill>
                <a:latin typeface="Cambria" pitchFamily="34" charset="0"/>
                <a:ea typeface="Cambria" pitchFamily="34" charset="-122"/>
                <a:cs typeface="Cambria" pitchFamily="34" charset="-120"/>
              </a:defRPr>
            </a:lvl1pP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SLIDE TITLE</a:t>
            </a:r>
            <a:endParaRPr lang="en-US" sz="24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Hexagon"/>
          <p:cNvSpPr/>
          <p:nvPr/>
        </p:nvSpPr>
        <p:spPr>
          <a:xfrm rot="5400000">
            <a:off x="8841585" y="-1222527"/>
            <a:ext cx="3695502" cy="3200400"/>
          </a:xfrm>
          <a:prstGeom prst="hexagon">
            <a:avLst/>
          </a:prstGeom>
          <a:ln w="15875">
            <a:solidFill>
              <a:schemeClr val="accent4">
                <a:alpha val="50000"/>
              </a:schemeClr>
            </a:solidFill>
            <a:prstDash val="solid"/>
          </a:ln>
        </p:spPr>
        <p:txBody>
          <a:bodyPr/>
          <a:lstStyle/>
          <a:p>
            <a:endParaRPr/>
          </a:p>
        </p:txBody>
      </p:sp>
      <p:sp>
        <p:nvSpPr>
          <p:cNvPr id="3" name="Cover Hexagon"/>
          <p:cNvSpPr/>
          <p:nvPr/>
        </p:nvSpPr>
        <p:spPr>
          <a:xfrm rot="5400000">
            <a:off x="10524081" y="1691640"/>
            <a:ext cx="3695502" cy="3200400"/>
          </a:xfrm>
          <a:prstGeom prst="hexagon">
            <a:avLst/>
          </a:prstGeom>
          <a:solidFill>
            <a:schemeClr val="accent1">
              <a:alpha val="25000"/>
            </a:schemeClr>
          </a:solidFill>
          <a:ln w="15875">
            <a:solidFill>
              <a:schemeClr val="accent4">
                <a:alpha val="45000"/>
              </a:schemeClr>
            </a:solidFill>
            <a:prstDash val="solid"/>
          </a:ln>
        </p:spPr>
        <p:txBody>
          <a:bodyPr/>
          <a:lstStyle/>
          <a:p>
            <a:endParaRPr/>
          </a:p>
        </p:txBody>
      </p:sp>
      <p:sp>
        <p:nvSpPr>
          <p:cNvPr id="4" name="Cover Hexagon"/>
          <p:cNvSpPr/>
          <p:nvPr/>
        </p:nvSpPr>
        <p:spPr>
          <a:xfrm rot="5400000">
            <a:off x="8841585" y="4605807"/>
            <a:ext cx="3695502" cy="3200400"/>
          </a:xfrm>
          <a:prstGeom prst="hexagon">
            <a:avLst/>
          </a:prstGeom>
          <a:ln w="15875">
            <a:solidFill>
              <a:schemeClr val="accent4">
                <a:alpha val="50000"/>
              </a:schemeClr>
            </a:solidFill>
            <a:prstDash val="solid"/>
          </a:ln>
        </p:spPr>
        <p:txBody>
          <a:bodyPr/>
          <a:lstStyle/>
          <a:p>
            <a:endParaRPr/>
          </a:p>
        </p:txBody>
      </p:sp>
      <p:sp>
        <p:nvSpPr>
          <p:cNvPr id="5" name="Cover Hexagon"/>
          <p:cNvSpPr/>
          <p:nvPr/>
        </p:nvSpPr>
        <p:spPr>
          <a:xfrm rot="5400000">
            <a:off x="6613359" y="3177540"/>
            <a:ext cx="580722" cy="502920"/>
          </a:xfrm>
          <a:prstGeom prst="hexagon">
            <a:avLst/>
          </a:prstGeom>
          <a:solidFill>
            <a:schemeClr val="accent3"/>
          </a:solidFill>
          <a:ln/>
        </p:spPr>
        <p:txBody>
          <a:bodyPr/>
          <a:lstStyle/>
          <a:p>
            <a:endParaRPr/>
          </a:p>
        </p:txBody>
      </p:sp>
      <p:sp>
        <p:nvSpPr>
          <p:cNvPr id="6" name="Cover Hexagon"/>
          <p:cNvSpPr/>
          <p:nvPr/>
        </p:nvSpPr>
        <p:spPr>
          <a:xfrm rot="5400000">
            <a:off x="10849583" y="1728216"/>
            <a:ext cx="337874" cy="292608"/>
          </a:xfrm>
          <a:prstGeom prst="hexagon">
            <a:avLst/>
          </a:prstGeom>
          <a:solidFill>
            <a:schemeClr val="accent3">
              <a:alpha val="70000"/>
            </a:schemeClr>
          </a:solidFill>
          <a:ln/>
        </p:spPr>
        <p:txBody>
          <a:bodyPr/>
          <a:lstStyle/>
          <a:p>
            <a:endParaRPr/>
          </a:p>
        </p:txBody>
      </p:sp>
      <p:sp>
        <p:nvSpPr>
          <p:cNvPr id="7" name="Cover Hexagon"/>
          <p:cNvSpPr/>
          <p:nvPr/>
        </p:nvSpPr>
        <p:spPr>
          <a:xfrm rot="5400000">
            <a:off x="6868728" y="1440180"/>
            <a:ext cx="4276224" cy="3703320"/>
          </a:xfrm>
          <a:prstGeom prst="hexagon">
            <a:avLst/>
          </a:prstGeom>
          <a:solidFill>
            <a:schemeClr val="accent1">
              <a:alpha val="45000"/>
            </a:schemeClr>
          </a:solidFill>
          <a:ln/>
        </p:spPr>
        <p:txBody>
          <a:bodyPr/>
          <a:lstStyle/>
          <a:p>
            <a:endParaRPr/>
          </a:p>
        </p:txBody>
      </p:sp>
      <p:sp>
        <p:nvSpPr>
          <p:cNvPr id="8" name="Cover Hexagon"/>
          <p:cNvSpPr/>
          <p:nvPr/>
        </p:nvSpPr>
        <p:spPr>
          <a:xfrm rot="5400000">
            <a:off x="6755697" y="4800600"/>
            <a:ext cx="844686" cy="731520"/>
          </a:xfrm>
          <a:prstGeom prst="hexagon">
            <a:avLst/>
          </a:prstGeom>
          <a:ln w="19050">
            <a:solidFill>
              <a:schemeClr val="accent3">
                <a:alpha val="65000"/>
              </a:schemeClr>
            </a:solidFill>
            <a:prstDash val="solid"/>
          </a:ln>
        </p:spPr>
        <p:txBody>
          <a:bodyPr/>
          <a:lstStyle/>
          <a:p>
            <a:endParaRPr/>
          </a:p>
        </p:txBody>
      </p:sp>
      <p:sp>
        <p:nvSpPr>
          <p:cNvPr id="9" name="Cover Hexagon"/>
          <p:cNvSpPr/>
          <p:nvPr/>
        </p:nvSpPr>
        <p:spPr>
          <a:xfrm rot="5400000">
            <a:off x="7159089" y="1691640"/>
            <a:ext cx="3695502" cy="3200400"/>
          </a:xfrm>
          <a:prstGeom prst="hexagon">
            <a:avLst/>
          </a:prstGeom>
          <a:solidFill>
            <a:schemeClr val="bg1"/>
          </a:solidFill>
          <a:ln w="38100">
            <a:solidFill>
              <a:schemeClr val="accent3"/>
            </a:solidFill>
            <a:prstDash val="solid"/>
          </a:ln>
        </p:spPr>
        <p:txBody>
          <a:bodyPr/>
          <a:lstStyle/>
          <a:p>
            <a:endParaRPr/>
          </a:p>
        </p:txBody>
      </p:sp>
      <p:pic>
        <p:nvPicPr>
          <p:cNvPr id="10" name="Genesis Logo" descr="Genesis logo"/>
          <p:cNvPicPr>
            <a:picLocks noChangeAspect="1"/>
          </p:cNvPicPr>
          <p:nvPr/>
        </p:nvPicPr>
        <p:blipFill>
          <a:blip r:embed="rId3"/>
          <a:stretch>
            <a:fillRect/>
          </a:stretch>
        </p:blipFill>
        <p:spPr>
          <a:xfrm>
            <a:off x="8110766" y="2125980"/>
            <a:ext cx="1792148" cy="2331720"/>
          </a:xfrm>
          <a:prstGeom prst="rect">
            <a:avLst/>
          </a:prstGeom>
        </p:spPr>
      </p:pic>
      <p:sp>
        <p:nvSpPr>
          <p:cNvPr id="11" name="Kicker"/>
          <p:cNvSpPr txBox="1"/>
          <p:nvPr/>
        </p:nvSpPr>
        <p:spPr>
          <a:xfrm>
            <a:off x="548640" y="502920"/>
            <a:ext cx="5303520" cy="320040"/>
          </a:xfrm>
          <a:prstGeom prst="rect">
            <a:avLst/>
          </a:prstGeom>
          <a:noFill/>
          <a:ln/>
        </p:spPr>
        <p:txBody>
          <a:bodyPr wrap="square" lIns="0" tIns="0" rIns="0" bIns="0" rtlCol="0" anchor="ctr"/>
          <a:lstStyle/>
          <a:p>
            <a:pPr marL="0" indent="0">
              <a:buNone/>
            </a:pPr>
            <a:r>
              <a:rPr lang="en-US" sz="1200" b="1" kern="0" spc="400" dirty="0">
                <a:solidFill>
                  <a:schemeClr val="accent3"/>
                </a:solidFill>
              </a:rPr>
              <a:t>PRE-IDEATHON TEMPLATE</a:t>
            </a:r>
            <a:endParaRPr lang="en-US" sz="1200" dirty="0"/>
          </a:p>
        </p:txBody>
      </p:sp>
      <p:sp>
        <p:nvSpPr>
          <p:cNvPr id="12" name="Event Title"/>
          <p:cNvSpPr txBox="1"/>
          <p:nvPr/>
        </p:nvSpPr>
        <p:spPr>
          <a:xfrm>
            <a:off x="548640" y="868680"/>
            <a:ext cx="5669280" cy="1600200"/>
          </a:xfrm>
          <a:prstGeom prst="rect">
            <a:avLst/>
          </a:prstGeom>
          <a:noFill/>
          <a:ln/>
        </p:spPr>
        <p:txBody>
          <a:bodyPr wrap="square" lIns="0" tIns="0" rIns="0" bIns="0" rtlCol="0" anchor="t"/>
          <a:lstStyle/>
          <a:p>
            <a:pPr marL="0" indent="0">
              <a:lnSpc>
                <a:spcPct val="90000"/>
              </a:lnSpc>
              <a:buNone/>
            </a:pPr>
            <a:r>
              <a:rPr lang="en-US" sz="5400" b="1" kern="0" spc="200" dirty="0">
                <a:solidFill>
                  <a:schemeClr val="bg1"/>
                </a:solidFill>
                <a:latin typeface="Cambria" pitchFamily="34" charset="0"/>
                <a:ea typeface="Cambria" pitchFamily="34" charset="-122"/>
                <a:cs typeface="Cambria" pitchFamily="34" charset="-120"/>
              </a:rPr>
              <a:t>GENESIS</a:t>
            </a:r>
            <a:endParaRPr lang="en-US" sz="5400" dirty="0"/>
          </a:p>
          <a:p>
            <a:pPr marL="0" indent="0">
              <a:lnSpc>
                <a:spcPct val="90000"/>
              </a:lnSpc>
              <a:buNone/>
            </a:pPr>
            <a:r>
              <a:rPr lang="en-US" sz="5400" b="1" kern="0" spc="200" dirty="0">
                <a:solidFill>
                  <a:schemeClr val="accent3"/>
                </a:solidFill>
                <a:latin typeface="Cambria" pitchFamily="34" charset="0"/>
                <a:ea typeface="Cambria" pitchFamily="34" charset="-122"/>
                <a:cs typeface="Cambria" pitchFamily="34" charset="-120"/>
              </a:rPr>
              <a:t>IDEATHON</a:t>
            </a:r>
            <a:endParaRPr lang="en-US" sz="5400" dirty="0"/>
          </a:p>
        </p:txBody>
      </p:sp>
      <p:sp>
        <p:nvSpPr>
          <p:cNvPr id="13" name="Section Chip"/>
          <p:cNvSpPr/>
          <p:nvPr/>
        </p:nvSpPr>
        <p:spPr>
          <a:xfrm>
            <a:off x="548640" y="2606040"/>
            <a:ext cx="2103120" cy="384048"/>
          </a:xfrm>
          <a:prstGeom prst="roundRect">
            <a:avLst>
              <a:gd name="adj" fmla="val 50000"/>
            </a:avLst>
          </a:prstGeom>
          <a:ln w="15875">
            <a:solidFill>
              <a:schemeClr val="accent3"/>
            </a:solidFill>
          </a:ln>
        </p:spPr>
        <p:txBody>
          <a:bodyPr wrap="square" lIns="0" tIns="0" rIns="0" bIns="0" rtlCol="0" anchor="ctr"/>
          <a:lstStyle/>
          <a:p>
            <a:pPr marL="0" indent="0" algn="ctr">
              <a:buNone/>
            </a:pPr>
            <a:r>
              <a:rPr lang="en-US" sz="1300" b="1" kern="0" spc="300" dirty="0">
                <a:solidFill>
                  <a:schemeClr val="bg1"/>
                </a:solidFill>
              </a:rPr>
              <a:t>TEAM &amp; DOMAIN</a:t>
            </a:r>
            <a:endParaRPr lang="en-US" sz="1300" dirty="0"/>
          </a:p>
        </p:txBody>
      </p:sp>
      <p:sp>
        <p:nvSpPr>
          <p:cNvPr id="14" name="Cover Lead"/>
          <p:cNvSpPr txBox="1"/>
          <p:nvPr/>
        </p:nvSpPr>
        <p:spPr>
          <a:xfrm>
            <a:off x="548640" y="3108960"/>
            <a:ext cx="5669280" cy="365760"/>
          </a:xfrm>
          <a:prstGeom prst="rect">
            <a:avLst/>
          </a:prstGeom>
          <a:noFill/>
          <a:ln/>
        </p:spPr>
        <p:txBody>
          <a:bodyPr wrap="square" lIns="0" tIns="0" rIns="0" bIns="0" rtlCol="0" anchor="ctr"/>
          <a:lstStyle/>
          <a:p>
            <a:pPr marL="0" indent="0">
              <a:buNone/>
            </a:pPr>
            <a:r>
              <a:rPr sz="1200">
                <a:solidFill>
                  <a:srgbClr val="2A332D"/>
                </a:solidFill>
                <a:latin typeface="Aptos"/>
              </a:rPr>
              <a:t>Team and selected agriculture domain</a:t>
            </a:r>
            <a:endParaRPr lang="en-US" sz="1600" dirty="0"/>
          </a:p>
        </p:txBody>
      </p:sp>
      <p:sp>
        <p:nvSpPr>
          <p:cNvPr id="15" name="Cover Fields"/>
          <p:cNvSpPr txBox="1"/>
          <p:nvPr/>
        </p:nvSpPr>
        <p:spPr>
          <a:xfrm>
            <a:off x="491490" y="3177540"/>
            <a:ext cx="6035040" cy="2560320"/>
          </a:xfrm>
          <a:prstGeom prst="rect">
            <a:avLst/>
          </a:prstGeom>
          <a:noFill/>
          <a:ln/>
        </p:spPr>
        <p:txBody>
          <a:bodyPr wrap="square" lIns="0" tIns="0" rIns="0" bIns="0" rtlCol="0" anchor="t"/>
          <a:lstStyle/>
          <a:p>
            <a:pPr marL="279400" indent="-279400">
              <a:spcAft>
                <a:spcPts val="1400"/>
              </a:spcAft>
              <a:buClr>
                <a:schemeClr val="accent3"/>
              </a:buClr>
              <a:buSzPct val="100000"/>
              <a:buChar char="•"/>
            </a:pPr>
            <a:r>
              <a:rPr lang="en-US" sz="1600" dirty="0">
                <a:solidFill>
                  <a:schemeClr val="bg1"/>
                </a:solidFill>
              </a:rPr>
              <a:t>Team Name – </a:t>
            </a:r>
            <a:r>
              <a:rPr lang="en-US" sz="1600" dirty="0" err="1">
                <a:solidFill>
                  <a:schemeClr val="bg1"/>
                </a:solidFill>
              </a:rPr>
              <a:t>CodeCrafters</a:t>
            </a:r>
            <a:endParaRPr lang="en-US" sz="1600" dirty="0"/>
          </a:p>
          <a:p>
            <a:pPr marL="279400" indent="-279400">
              <a:spcAft>
                <a:spcPts val="1400"/>
              </a:spcAft>
              <a:buClr>
                <a:schemeClr val="accent3"/>
              </a:buClr>
              <a:buSzPct val="100000"/>
              <a:buChar char="•"/>
            </a:pPr>
            <a:r>
              <a:rPr lang="en-US" sz="1600" dirty="0">
                <a:solidFill>
                  <a:schemeClr val="bg1"/>
                </a:solidFill>
              </a:rPr>
              <a:t>Team Members –Shweta R T (CB.SC.U4CSE26252)</a:t>
            </a:r>
          </a:p>
          <a:p>
            <a:pPr>
              <a:spcAft>
                <a:spcPts val="1400"/>
              </a:spcAft>
              <a:buClr>
                <a:schemeClr val="accent3"/>
              </a:buClr>
              <a:buSzPct val="100000"/>
            </a:pPr>
            <a:r>
              <a:rPr lang="en-US" sz="1600" dirty="0">
                <a:solidFill>
                  <a:schemeClr val="bg1"/>
                </a:solidFill>
              </a:rPr>
              <a:t>                                         Soma Shanmukha Priya Roy (CB.SC.U4CSE26253)</a:t>
            </a:r>
          </a:p>
          <a:p>
            <a:pPr>
              <a:spcAft>
                <a:spcPts val="1400"/>
              </a:spcAft>
              <a:buClr>
                <a:schemeClr val="accent3"/>
              </a:buClr>
              <a:buSzPct val="100000"/>
            </a:pPr>
            <a:r>
              <a:rPr lang="en-US" sz="1600" dirty="0">
                <a:solidFill>
                  <a:schemeClr val="bg1"/>
                </a:solidFill>
              </a:rPr>
              <a:t>                                         </a:t>
            </a:r>
            <a:r>
              <a:rPr lang="en-IN" sz="1600" dirty="0">
                <a:solidFill>
                  <a:schemeClr val="bg1">
                    <a:lumMod val="95000"/>
                  </a:schemeClr>
                </a:solidFill>
              </a:rPr>
              <a:t>Kanishka S (CB.SC.U4CSE26222)</a:t>
            </a:r>
          </a:p>
          <a:p>
            <a:pPr>
              <a:spcAft>
                <a:spcPts val="1400"/>
              </a:spcAft>
              <a:buClr>
                <a:schemeClr val="accent3"/>
              </a:buClr>
              <a:buSzPct val="100000"/>
            </a:pPr>
            <a:r>
              <a:rPr lang="en-IN" sz="1600" dirty="0">
                <a:solidFill>
                  <a:schemeClr val="bg1">
                    <a:lumMod val="95000"/>
                  </a:schemeClr>
                </a:solidFill>
              </a:rPr>
              <a:t>                                         Tanisha S (CB.SC.U4CSE26260)</a:t>
            </a:r>
            <a:endParaRPr lang="en-US" sz="1600" dirty="0"/>
          </a:p>
          <a:p>
            <a:pPr marL="279400" indent="-279400">
              <a:spcAft>
                <a:spcPts val="1400"/>
              </a:spcAft>
              <a:buClr>
                <a:schemeClr val="accent3"/>
              </a:buClr>
              <a:buSzPct val="100000"/>
              <a:buChar char="•"/>
            </a:pPr>
            <a:r>
              <a:rPr lang="en-US" sz="1600" dirty="0">
                <a:solidFill>
                  <a:schemeClr val="bg1"/>
                </a:solidFill>
              </a:rPr>
              <a:t>Selected Domain – 5</a:t>
            </a:r>
            <a:endParaRPr lang="en-US" sz="1600" dirty="0"/>
          </a:p>
          <a:p>
            <a:pPr marL="279400" indent="-279400">
              <a:spcAft>
                <a:spcPts val="1400"/>
              </a:spcAft>
              <a:buClr>
                <a:schemeClr val="accent3"/>
              </a:buClr>
              <a:buSzPct val="100000"/>
              <a:buChar char="•"/>
            </a:pPr>
            <a:r>
              <a:rPr lang="en-US" sz="1600" dirty="0">
                <a:solidFill>
                  <a:schemeClr val="bg1"/>
                </a:solidFill>
              </a:rPr>
              <a:t>Problem Statement – Farmers frequently make crop selling decisions without reliable information about future demand, market prices, transportation costs, or local demand. </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DOMAIN PROBLEM IN OUR WORDS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pPr marL="0" indent="0">
              <a:buNone/>
            </a:pPr>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r>
              <a:rPr lang="en-US" b="1" dirty="0">
                <a:solidFill>
                  <a:schemeClr val="accent2"/>
                </a:solidFill>
              </a:rPr>
              <a:t>Explain the problem in your domain simply, in your own words</a:t>
            </a:r>
            <a:endParaRPr lang="en-US" dirty="0"/>
          </a:p>
        </p:txBody>
      </p:sp>
      <p:sp>
        <p:nvSpPr>
          <p:cNvPr id="10" name="Prompts"/>
          <p:cNvSpPr txBox="1"/>
          <p:nvPr/>
        </p:nvSpPr>
        <p:spPr>
          <a:xfrm>
            <a:off x="868680" y="2148840"/>
            <a:ext cx="10424160" cy="11887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dirty="0"/>
              <a:t>What exactly needs to be solved?</a:t>
            </a:r>
          </a:p>
          <a:p>
            <a:pPr>
              <a:spcAft>
                <a:spcPts val="1000"/>
              </a:spcAft>
              <a:buClr>
                <a:schemeClr val="accent1"/>
              </a:buClr>
              <a:buSzPct val="100000"/>
            </a:pPr>
            <a:r>
              <a:rPr lang="en-IN" dirty="0"/>
              <a:t>The goal is to reduce distress selling, overproduction, transportation losses, and food wastage.</a:t>
            </a:r>
          </a:p>
          <a:p>
            <a:pPr>
              <a:spcAft>
                <a:spcPts val="1000"/>
              </a:spcAft>
              <a:buClr>
                <a:schemeClr val="accent1"/>
              </a:buClr>
              <a:buSzPct val="100000"/>
            </a:pPr>
            <a:r>
              <a:rPr lang="en-IN" dirty="0"/>
              <a:t>Ultimately, farmers should be able to make data-driven decisions and improve their income.</a:t>
            </a:r>
            <a:endParaRPr lang="en-US" dirty="0"/>
          </a:p>
          <a:p>
            <a:pPr marL="279400" indent="-279400">
              <a:spcAft>
                <a:spcPts val="1000"/>
              </a:spcAft>
              <a:buClr>
                <a:schemeClr val="accent1"/>
              </a:buClr>
              <a:buSzPct val="100000"/>
              <a:buChar char="•"/>
            </a:pPr>
            <a:r>
              <a:rPr lang="en-US" dirty="0"/>
              <a:t>Why is it important right now?</a:t>
            </a:r>
          </a:p>
          <a:p>
            <a:pPr lvl="0"/>
            <a:r>
              <a:rPr lang="en-IN" dirty="0"/>
              <a:t>Farmers often have limited access to real-time and localized market information. </a:t>
            </a:r>
          </a:p>
          <a:p>
            <a:r>
              <a:rPr lang="en-IN" dirty="0"/>
              <a:t>Poor market decisions can lead to low prices, financial losses, and unsold produce.</a:t>
            </a:r>
          </a:p>
          <a:p>
            <a:r>
              <a:rPr lang="en-IN" dirty="0"/>
              <a:t>Therefore, an intelligent demand-and-price prediction platform can support better decisions, better profits,        and reduced food wastage.</a:t>
            </a:r>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WHO IS AFFECTED?</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Primary users / target group</a:t>
            </a:r>
          </a:p>
          <a:p>
            <a:pPr>
              <a:spcAft>
                <a:spcPts val="1000"/>
              </a:spcAft>
              <a:buClr>
                <a:schemeClr val="accent1"/>
              </a:buClr>
              <a:buSzPct val="100000"/>
            </a:pPr>
            <a:r>
              <a:rPr lang="en-US" dirty="0"/>
              <a:t>       </a:t>
            </a:r>
            <a:r>
              <a:rPr lang="en-US" dirty="0">
                <a:solidFill>
                  <a:srgbClr val="2A332D"/>
                </a:solidFill>
                <a:latin typeface="Aptos"/>
              </a:rPr>
              <a:t>Farmers are the primary users</a:t>
            </a:r>
            <a:endParaRPr lang="en-US" sz="1800" dirty="0"/>
          </a:p>
          <a:p>
            <a:pPr marL="279400" indent="-279400">
              <a:spcAft>
                <a:spcPts val="1000"/>
              </a:spcAft>
              <a:buClr>
                <a:schemeClr val="accent1"/>
              </a:buClr>
              <a:buSzPct val="100000"/>
              <a:buChar char="•"/>
            </a:pPr>
            <a:r>
              <a:rPr lang="en-US" sz="1800" dirty="0">
                <a:solidFill>
                  <a:schemeClr val="tx1"/>
                </a:solidFill>
              </a:rPr>
              <a:t>Secondary stakeholders</a:t>
            </a:r>
          </a:p>
          <a:p>
            <a:pPr>
              <a:spcAft>
                <a:spcPts val="1000"/>
              </a:spcAft>
              <a:buClr>
                <a:schemeClr val="accent1"/>
              </a:buClr>
              <a:buSzPct val="100000"/>
            </a:pPr>
            <a:r>
              <a:rPr lang="en-US" sz="1800" dirty="0"/>
              <a:t>       </a:t>
            </a:r>
            <a:r>
              <a:rPr lang="en-US" dirty="0">
                <a:solidFill>
                  <a:srgbClr val="2A332D"/>
                </a:solidFill>
                <a:latin typeface="Aptos"/>
              </a:rPr>
              <a:t>buyers, transporters and consumers are connected stakeholders.</a:t>
            </a:r>
            <a:endParaRPr lang="en-US" sz="2800" dirty="0"/>
          </a:p>
          <a:p>
            <a:pPr>
              <a:spcAft>
                <a:spcPts val="1000"/>
              </a:spcAft>
              <a:buClr>
                <a:schemeClr val="accent1"/>
              </a:buClr>
              <a:buSzPct val="100000"/>
            </a:pPr>
            <a:endParaRPr lang="en-US" sz="1800" dirty="0"/>
          </a:p>
          <a:p>
            <a:pPr marL="279400" indent="-279400">
              <a:spcAft>
                <a:spcPts val="1000"/>
              </a:spcAft>
              <a:buClr>
                <a:schemeClr val="accent1"/>
              </a:buClr>
              <a:buSzPct val="100000"/>
              <a:buChar char="•"/>
            </a:pPr>
            <a:r>
              <a:rPr lang="en-US" sz="1800" dirty="0">
                <a:solidFill>
                  <a:schemeClr val="tx1"/>
                </a:solidFill>
              </a:rPr>
              <a:t>Who benefits if the problem is solved?</a:t>
            </a:r>
          </a:p>
          <a:p>
            <a:pPr>
              <a:spcAft>
                <a:spcPts val="1000"/>
              </a:spcAft>
              <a:buClr>
                <a:schemeClr val="accent1"/>
              </a:buClr>
              <a:buSzPct val="100000"/>
            </a:pPr>
            <a:r>
              <a:rPr lang="en-US" dirty="0"/>
              <a:t>      </a:t>
            </a:r>
            <a:r>
              <a:rPr lang="en-IN" dirty="0"/>
              <a:t>The solution benefits the entire agricultural supply chain by improving farmers’ income, connecting buyers with sellers, reducing food wastage, and making agricultural markets more efficient.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CURRENT SITUATION &amp; CONTEXT</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Existing scenario and background</a:t>
            </a:r>
          </a:p>
          <a:p>
            <a:pPr>
              <a:spcAft>
                <a:spcPts val="1000"/>
              </a:spcAft>
              <a:buClr>
                <a:schemeClr val="accent1"/>
              </a:buClr>
              <a:buSzPct val="100000"/>
            </a:pPr>
            <a:r>
              <a:rPr lang="en-US" dirty="0"/>
              <a:t>      </a:t>
            </a:r>
            <a:r>
              <a:rPr lang="en-IN" dirty="0"/>
              <a:t>Currently, many farmers make crop-growing and selling decisions based on past experience, traditional methods, and limited market information. They often lack reliable information about future crop demand, expected market prices, transportation costs, and demand in nearby markets.</a:t>
            </a:r>
            <a:endParaRPr lang="en-US" sz="1800" dirty="0"/>
          </a:p>
          <a:p>
            <a:pPr marL="279400" indent="-279400">
              <a:spcAft>
                <a:spcPts val="1000"/>
              </a:spcAft>
              <a:buClr>
                <a:schemeClr val="accent1"/>
              </a:buClr>
              <a:buSzPct val="100000"/>
              <a:buChar char="•"/>
            </a:pPr>
            <a:r>
              <a:rPr lang="en-US" sz="1800" dirty="0">
                <a:solidFill>
                  <a:schemeClr val="tx1"/>
                </a:solidFill>
              </a:rPr>
              <a:t>Relevant data or facts (if available)</a:t>
            </a:r>
            <a:endParaRPr lang="en-US" sz="1800" dirty="0"/>
          </a:p>
          <a:p>
            <a:pPr marL="279400" indent="-279400">
              <a:spcAft>
                <a:spcPts val="1000"/>
              </a:spcAft>
              <a:buClr>
                <a:schemeClr val="accent1"/>
              </a:buClr>
              <a:buSzPct val="100000"/>
              <a:buChar char="•"/>
            </a:pPr>
            <a:r>
              <a:rPr lang="en-US" sz="1800" dirty="0">
                <a:solidFill>
                  <a:schemeClr val="tx1"/>
                </a:solidFill>
              </a:rPr>
              <a:t>Current workflow, step by step</a:t>
            </a:r>
          </a:p>
          <a:p>
            <a:r>
              <a:rPr lang="en-US" dirty="0"/>
              <a:t>     </a:t>
            </a:r>
            <a:r>
              <a:rPr lang="en-IN" dirty="0"/>
              <a:t>1. Crop Selection: Farmers select crops based on experience, previous seasons, and local conditions.</a:t>
            </a:r>
          </a:p>
          <a:p>
            <a:r>
              <a:rPr lang="en-IN" dirty="0"/>
              <a:t>     2. Crop Cultivation: Farmers grow crops according to their selected plans, without always having accurate future-demand information.</a:t>
            </a:r>
          </a:p>
          <a:p>
            <a:r>
              <a:rPr lang="en-IN" dirty="0"/>
              <a:t>     3. Harvesting: Crops are harvested when they are ready for sale.</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KEY CHALLENGES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Main difficulties and bottlenecks</a:t>
            </a:r>
            <a:endParaRPr lang="en-US" dirty="0"/>
          </a:p>
          <a:p>
            <a:pPr>
              <a:spcAft>
                <a:spcPts val="1000"/>
              </a:spcAft>
              <a:buClr>
                <a:schemeClr val="accent1"/>
              </a:buClr>
              <a:buSzPct val="100000"/>
            </a:pPr>
            <a:r>
              <a:rPr lang="en-US" dirty="0">
                <a:solidFill>
                  <a:srgbClr val="2A332D"/>
                </a:solidFill>
                <a:latin typeface="Aptos"/>
              </a:rPr>
              <a:t>The main gap is a lack of one clear comparison of price, demand and transport costs</a:t>
            </a:r>
            <a:endParaRPr lang="en-US" sz="1800" dirty="0"/>
          </a:p>
          <a:p>
            <a:pPr marL="279400" indent="-279400">
              <a:spcAft>
                <a:spcPts val="1000"/>
              </a:spcAft>
              <a:buClr>
                <a:schemeClr val="accent1"/>
              </a:buClr>
              <a:buSzPct val="100000"/>
              <a:buChar char="•"/>
            </a:pPr>
            <a:r>
              <a:rPr lang="en-US" sz="1800" dirty="0">
                <a:solidFill>
                  <a:schemeClr val="tx1"/>
                </a:solidFill>
              </a:rPr>
              <a:t>Root causes behind them</a:t>
            </a:r>
            <a:endParaRPr lang="en-US" sz="1800" dirty="0"/>
          </a:p>
          <a:p>
            <a:pPr marL="279400" indent="-279400">
              <a:spcAft>
                <a:spcPts val="1000"/>
              </a:spcAft>
              <a:buClr>
                <a:schemeClr val="accent1"/>
              </a:buClr>
              <a:buSzPct val="100000"/>
              <a:buChar char="•"/>
            </a:pPr>
            <a:r>
              <a:rPr lang="en-US" sz="1800" dirty="0">
                <a:solidFill>
                  <a:schemeClr val="tx1"/>
                </a:solidFill>
              </a:rPr>
              <a:t>Consequences of leaving them unsolved</a:t>
            </a:r>
          </a:p>
          <a:p>
            <a:r>
              <a:rPr lang="en-IN" dirty="0"/>
              <a:t>1. Lack of Real-Time Market Information: Farmers do not always have access to accurate, up-to-date crop prices and market trends.</a:t>
            </a:r>
          </a:p>
          <a:p>
            <a:r>
              <a:rPr lang="en-IN" dirty="0"/>
              <a:t>2. Poor Demand Prediction: There is no reliable system available to many farmers to forecast future demand for different crops.</a:t>
            </a:r>
          </a:p>
          <a:p>
            <a:pPr>
              <a:spcAft>
                <a:spcPts val="1000"/>
              </a:spcAft>
              <a:buClr>
                <a:schemeClr val="accent1"/>
              </a:buClr>
              <a:buSzPct val="100000"/>
            </a:pPr>
            <a:r>
              <a:rPr lang="en-IN" dirty="0"/>
              <a:t>3. Unpredictable Price Fluctuations: Prices change due to supply, demand, weather conditions, and seasonal variations.</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EXISTING SOLUTIONS / APPROACHES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10" name="Prompts"/>
          <p:cNvSpPr txBox="1"/>
          <p:nvPr/>
        </p:nvSpPr>
        <p:spPr>
          <a:xfrm>
            <a:off x="914400" y="179771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600" dirty="0">
                <a:solidFill>
                  <a:schemeClr val="tx1"/>
                </a:solidFill>
              </a:rPr>
              <a:t>Existing methods, systems or alternatives</a:t>
            </a:r>
          </a:p>
          <a:p>
            <a:r>
              <a:rPr lang="en-IN" sz="1600" dirty="0"/>
              <a:t>1. Local Agricultural Markets: Farmers visit nearby markets to check crop prices and sell their produce based on available rates.</a:t>
            </a:r>
          </a:p>
          <a:p>
            <a:r>
              <a:rPr lang="en-IN" sz="1600" dirty="0"/>
              <a:t>2. Government Market Information Portals: Platforms such as AGMARKNET provide agricultural market price and arrival information.</a:t>
            </a:r>
          </a:p>
          <a:p>
            <a:pPr>
              <a:spcAft>
                <a:spcPts val="1000"/>
              </a:spcAft>
              <a:buClr>
                <a:schemeClr val="accent1"/>
              </a:buClr>
              <a:buSzPct val="100000"/>
            </a:pPr>
            <a:endParaRPr lang="en-US" sz="1600" dirty="0"/>
          </a:p>
          <a:p>
            <a:pPr marL="279400" indent="-279400">
              <a:spcAft>
                <a:spcPts val="1000"/>
              </a:spcAft>
              <a:buClr>
                <a:schemeClr val="accent1"/>
              </a:buClr>
              <a:buSzPct val="100000"/>
              <a:buChar char="•"/>
            </a:pPr>
            <a:r>
              <a:rPr lang="en-US" sz="1600" dirty="0">
                <a:solidFill>
                  <a:schemeClr val="tx1"/>
                </a:solidFill>
              </a:rPr>
              <a:t>Limitations of each</a:t>
            </a:r>
          </a:p>
          <a:p>
            <a:pPr lvl="0"/>
            <a:r>
              <a:rPr lang="en-IN" sz="1600" dirty="0"/>
              <a:t>Market information may not provide reliable predictions of future demand and prices.</a:t>
            </a:r>
          </a:p>
          <a:p>
            <a:pPr lvl="0"/>
            <a:r>
              <a:rPr lang="en-IN" sz="1600" dirty="0"/>
              <a:t>Comparing selling prices across markets and transportation costs can be difficult.</a:t>
            </a:r>
          </a:p>
          <a:p>
            <a:pPr lvl="0"/>
            <a:r>
              <a:rPr lang="en-IN" sz="1600" dirty="0"/>
              <a:t>Farmers may still depend on middlemen to find buyers.</a:t>
            </a:r>
          </a:p>
          <a:p>
            <a:pPr lvl="0"/>
            <a:r>
              <a:rPr lang="en-IN" sz="1600" dirty="0"/>
              <a:t>Information about local demand and buyer requirements may be limited.</a:t>
            </a:r>
          </a:p>
          <a:p>
            <a:pPr>
              <a:spcAft>
                <a:spcPts val="1000"/>
              </a:spcAft>
              <a:buClr>
                <a:schemeClr val="accent1"/>
              </a:buClr>
              <a:buSzPct val="100000"/>
            </a:pPr>
            <a:endParaRPr lang="en-US" sz="1600" dirty="0"/>
          </a:p>
          <a:p>
            <a:pPr marL="279400" indent="-279400">
              <a:spcAft>
                <a:spcPts val="1000"/>
              </a:spcAft>
              <a:buClr>
                <a:schemeClr val="accent1"/>
              </a:buClr>
              <a:buSzPct val="100000"/>
              <a:buChar char="•"/>
            </a:pPr>
            <a:r>
              <a:rPr lang="en-US" sz="1600" dirty="0">
                <a:solidFill>
                  <a:schemeClr val="tx1"/>
                </a:solidFill>
              </a:rPr>
              <a:t>The gap they leave open (Key Challenges)</a:t>
            </a:r>
          </a:p>
          <a:p>
            <a:r>
              <a:rPr lang="en-IN" sz="1600" dirty="0"/>
              <a:t>1. Lack of Future Demand Prediction: Most available methods do not provide sufficiently localized forecasts of future crop demand to guide farmers’ decisions.</a:t>
            </a:r>
          </a:p>
          <a:p>
            <a:r>
              <a:rPr lang="en-IN" sz="1600" dirty="0"/>
              <a:t>2. Uncertain Future Prices: Farmers struggle to estimate expected selling prices and prepare for market fluctuations.</a:t>
            </a:r>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PROBLEM INSIGHTS &amp; OPPORTUNITY AREAS</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sz="1200">
                <a:solidFill>
                  <a:srgbClr val="2A332D"/>
                </a:solidFill>
                <a:latin typeface="Aptos"/>
              </a:rPr>
              <a:t>Resources needed for a prototype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Hardware Requirements</a:t>
            </a:r>
          </a:p>
          <a:p>
            <a:pPr>
              <a:spcAft>
                <a:spcPts val="1000"/>
              </a:spcAft>
              <a:buClr>
                <a:schemeClr val="accent1"/>
              </a:buClr>
              <a:buSzPct val="100000"/>
            </a:pPr>
            <a:r>
              <a:rPr lang="en-IN" dirty="0"/>
              <a:t>Data Processing System, Smartphone or Computer, </a:t>
            </a:r>
            <a:endParaRPr lang="en-US" sz="1800" dirty="0"/>
          </a:p>
          <a:p>
            <a:pPr marL="279400" indent="-279400">
              <a:spcAft>
                <a:spcPts val="1000"/>
              </a:spcAft>
              <a:buClr>
                <a:schemeClr val="accent1"/>
              </a:buClr>
              <a:buSzPct val="100000"/>
              <a:buChar char="•"/>
            </a:pPr>
            <a:r>
              <a:rPr lang="en-US" sz="1800" dirty="0">
                <a:solidFill>
                  <a:schemeClr val="tx1"/>
                </a:solidFill>
              </a:rPr>
              <a:t>Software Requirements</a:t>
            </a:r>
          </a:p>
          <a:p>
            <a:pPr>
              <a:spcAft>
                <a:spcPts val="1000"/>
              </a:spcAft>
              <a:buClr>
                <a:schemeClr val="accent1"/>
              </a:buClr>
              <a:buSzPct val="100000"/>
            </a:pPr>
            <a:r>
              <a:rPr lang="en-IN" dirty="0"/>
              <a:t>Frontend Development, Backend Development, Database Management, Maps and Location Services, Weather Data Integration</a:t>
            </a:r>
            <a:endParaRPr lang="en-US" sz="1800" dirty="0"/>
          </a:p>
          <a:p>
            <a:pPr marL="279400" indent="-279400">
              <a:spcAft>
                <a:spcPts val="1000"/>
              </a:spcAft>
              <a:buClr>
                <a:schemeClr val="accent1"/>
              </a:buClr>
              <a:buSzPct val="100000"/>
              <a:buChar char="•"/>
            </a:pPr>
            <a:r>
              <a:rPr lang="en-US" sz="1800" dirty="0">
                <a:solidFill>
                  <a:schemeClr val="tx1"/>
                </a:solidFill>
              </a:rPr>
              <a:t>Other resources (Including Human Resources)</a:t>
            </a:r>
          </a:p>
          <a:p>
            <a:pPr>
              <a:spcAft>
                <a:spcPts val="1000"/>
              </a:spcAft>
              <a:buClr>
                <a:schemeClr val="accent1"/>
              </a:buClr>
              <a:buSzPct val="100000"/>
            </a:pPr>
            <a:r>
              <a:rPr lang="en-IN" dirty="0"/>
              <a:t>Agricultural Expert</a:t>
            </a: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INITIAL DIRECTION &amp; EXPECTED OUTCOME</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dirty="0" err="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What Is Your Expected Outcome?</a:t>
            </a:r>
            <a:endParaRPr lang="en-US" sz="1800" dirty="0"/>
          </a:p>
        </p:txBody>
      </p:sp>
      <p:sp>
        <p:nvSpPr>
          <p:cNvPr id="10" name="Prompts"/>
          <p:cNvSpPr txBox="1"/>
          <p:nvPr/>
        </p:nvSpPr>
        <p:spPr>
          <a:xfrm>
            <a:off x="868680" y="2148840"/>
            <a:ext cx="10424160" cy="1645920"/>
          </a:xfrm>
          <a:prstGeom prst="rect">
            <a:avLst/>
          </a:prstGeom>
          <a:noFill/>
          <a:ln/>
        </p:spPr>
        <p:txBody>
          <a:bodyPr wrap="square" lIns="0" tIns="0" rIns="0" bIns="0" rtlCol="0" anchor="t"/>
          <a:lstStyle/>
          <a:p>
            <a:pPr marL="279400" indent="-279400">
              <a:spcAft>
                <a:spcPts val="1000"/>
              </a:spcAft>
              <a:buClr>
                <a:schemeClr val="accent1"/>
              </a:buClr>
              <a:buSzPct val="100000"/>
              <a:buChar char="•"/>
            </a:pPr>
            <a:r>
              <a:rPr lang="en-US" sz="1800" dirty="0">
                <a:solidFill>
                  <a:schemeClr val="tx1"/>
                </a:solidFill>
              </a:rPr>
              <a:t>What your team intends to do</a:t>
            </a:r>
          </a:p>
          <a:p>
            <a:pPr>
              <a:spcAft>
                <a:spcPts val="1000"/>
              </a:spcAft>
              <a:buClr>
                <a:schemeClr val="accent1"/>
              </a:buClr>
              <a:buSzPct val="100000"/>
            </a:pPr>
            <a:r>
              <a:rPr lang="en-IN" dirty="0"/>
              <a:t>Predict Crop Demand, Forecast Market Prices, Recommend Profitable Markets, Connect Farmers with Buyers, Provide Localized Information</a:t>
            </a:r>
            <a:endParaRPr lang="en-US" sz="1800" dirty="0"/>
          </a:p>
          <a:p>
            <a:pPr marL="279400" indent="-279400">
              <a:spcAft>
                <a:spcPts val="1000"/>
              </a:spcAft>
              <a:buClr>
                <a:schemeClr val="accent1"/>
              </a:buClr>
              <a:buSzPct val="100000"/>
              <a:buChar char="•"/>
            </a:pPr>
            <a:r>
              <a:rPr lang="en-US" sz="1800" dirty="0">
                <a:solidFill>
                  <a:schemeClr val="tx1"/>
                </a:solidFill>
              </a:rPr>
              <a:t>What you want to improve</a:t>
            </a:r>
          </a:p>
          <a:p>
            <a:pPr>
              <a:spcAft>
                <a:spcPts val="1000"/>
              </a:spcAft>
              <a:buClr>
                <a:schemeClr val="accent1"/>
              </a:buClr>
              <a:buSzPct val="100000"/>
            </a:pPr>
            <a:r>
              <a:rPr lang="en-IN" dirty="0"/>
              <a:t>Demand Prediction, Price Forecasting, Market Selection, Direct Buyer Connection</a:t>
            </a:r>
            <a:endParaRPr lang="en-US" sz="1800" dirty="0"/>
          </a:p>
          <a:p>
            <a:pPr marL="279400" indent="-279400">
              <a:spcAft>
                <a:spcPts val="1000"/>
              </a:spcAft>
              <a:buClr>
                <a:schemeClr val="accent1"/>
              </a:buClr>
              <a:buSzPct val="100000"/>
              <a:buChar char="•"/>
            </a:pPr>
            <a:r>
              <a:rPr lang="en-US" sz="1800" dirty="0">
                <a:solidFill>
                  <a:schemeClr val="tx1"/>
                </a:solidFill>
              </a:rPr>
              <a:t>What successful improvement should you achieve</a:t>
            </a:r>
          </a:p>
          <a:p>
            <a:pPr>
              <a:spcAft>
                <a:spcPts val="1000"/>
              </a:spcAft>
              <a:buClr>
                <a:schemeClr val="accent1"/>
              </a:buClr>
              <a:buSzPct val="100000"/>
            </a:pPr>
            <a:r>
              <a:rPr lang="en-IN" dirty="0"/>
              <a:t>Demand Prediction, Price Forecasting, Market Selection, Direct Buyer Connection</a:t>
            </a:r>
            <a:endParaRPr lang="en-US" dirty="0"/>
          </a:p>
          <a:p>
            <a:pPr>
              <a:spcAft>
                <a:spcPts val="1000"/>
              </a:spcAft>
              <a:buClr>
                <a:schemeClr val="accent1"/>
              </a:buClr>
              <a:buSzPct val="100000"/>
            </a:pPr>
            <a:endParaRPr lang="en-US" sz="1800" dirty="0"/>
          </a:p>
        </p:txBody>
      </p:sp>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7"/>
          <p:cNvSpPr>
            <a:spLocks noGrp="1"/>
          </p:cNvSpPr>
          <p:nvPr>
            <p:ph type="title" idx="108" hasCustomPrompt="1"/>
          </p:nvPr>
        </p:nvSpPr>
        <p:spPr>
          <a:xfrm>
            <a:off x="3246120" y="320040"/>
            <a:ext cx="7498080" cy="822960"/>
          </a:xfrm>
          <a:prstGeom prst="rect">
            <a:avLst/>
          </a:prstGeom>
          <a:noFill/>
          <a:ln/>
        </p:spPr>
        <p:txBody>
          <a:bodyPr wrap="square" lIns="0" tIns="0" rIns="0" bIns="0" rtlCol="0" anchor="ctr"/>
          <a:lstStyle/>
          <a:p>
            <a:pPr marL="0" indent="0" algn="ctr">
              <a:buNone/>
            </a:pPr>
            <a:r>
              <a:rPr lang="en-US" sz="2400" b="1" kern="0" spc="100" dirty="0">
                <a:solidFill>
                  <a:schemeClr val="tx2"/>
                </a:solidFill>
                <a:latin typeface="Cambria" pitchFamily="34" charset="0"/>
                <a:ea typeface="Cambria" pitchFamily="34" charset="-122"/>
                <a:cs typeface="Cambria" pitchFamily="34" charset="-120"/>
              </a:rPr>
              <a:t>TEAM CONTRIBUTION</a:t>
            </a:r>
            <a:endParaRPr lang="en-US" sz="2400" dirty="0"/>
          </a:p>
        </p:txBody>
      </p:sp>
      <p:sp>
        <p:nvSpPr>
          <p:cNvPr id="3" name="Team Badge"/>
          <p:cNvSpPr/>
          <p:nvPr/>
        </p:nvSpPr>
        <p:spPr>
          <a:xfrm>
            <a:off x="457200" y="320040"/>
            <a:ext cx="2606040" cy="822960"/>
          </a:xfrm>
          <a:prstGeom prst="roundRect">
            <a:avLst>
              <a:gd name="adj" fmla="val 13333"/>
            </a:avLst>
          </a:prstGeom>
          <a:solidFill>
            <a:schemeClr val="bg1"/>
          </a:solidFill>
          <a:ln w="9525">
            <a:solidFill>
              <a:schemeClr val="accent6"/>
            </a:solidFill>
            <a:prstDash val="solid"/>
          </a:ln>
        </p:spPr>
        <p:txBody>
          <a:bodyPr/>
          <a:lstStyle/>
          <a:p>
            <a:endParaRPr/>
          </a:p>
        </p:txBody>
      </p:sp>
      <p:sp>
        <p:nvSpPr>
          <p:cNvPr id="4" name="Team Icon Hex"/>
          <p:cNvSpPr/>
          <p:nvPr/>
        </p:nvSpPr>
        <p:spPr>
          <a:xfrm>
            <a:off x="603504" y="457200"/>
            <a:ext cx="630936" cy="548640"/>
          </a:xfrm>
          <a:prstGeom prst="hexagon">
            <a:avLst/>
          </a:prstGeom>
          <a:solidFill>
            <a:schemeClr val="bg2"/>
          </a:solidFill>
          <a:ln w="9525">
            <a:solidFill>
              <a:schemeClr val="accent6"/>
            </a:solidFill>
            <a:prstDash val="solid"/>
          </a:ln>
        </p:spPr>
        <p:txBody>
          <a:bodyPr/>
          <a:lstStyle/>
          <a:p>
            <a:endParaRPr/>
          </a:p>
        </p:txBody>
      </p:sp>
      <p:pic>
        <p:nvPicPr>
          <p:cNvPr id="5" name="Team Icon" descr="Team icon"/>
          <p:cNvPicPr>
            <a:picLocks noChangeAspect="1"/>
          </p:cNvPicPr>
          <p:nvPr/>
        </p:nvPicPr>
        <p:blipFill>
          <a:blip r:embed="rId3"/>
          <a:stretch>
            <a:fillRect/>
          </a:stretch>
        </p:blipFill>
        <p:spPr>
          <a:xfrm>
            <a:off x="736092" y="548640"/>
            <a:ext cx="365760" cy="365760"/>
          </a:xfrm>
          <a:prstGeom prst="rect">
            <a:avLst/>
          </a:prstGeom>
        </p:spPr>
      </p:pic>
      <p:sp>
        <p:nvSpPr>
          <p:cNvPr id="6" name="Team Name"/>
          <p:cNvSpPr txBox="1"/>
          <p:nvPr/>
        </p:nvSpPr>
        <p:spPr>
          <a:xfrm>
            <a:off x="1371600" y="384048"/>
            <a:ext cx="1627632" cy="694944"/>
          </a:xfrm>
          <a:prstGeom prst="rect">
            <a:avLst/>
          </a:prstGeom>
          <a:noFill/>
          <a:ln/>
        </p:spPr>
        <p:txBody>
          <a:bodyPr wrap="square" lIns="0" tIns="0" rIns="0" bIns="0" rtlCol="0" anchor="ctr">
            <a:normAutofit/>
          </a:bodyPr>
          <a:lstStyle/>
          <a:p>
            <a:pPr marL="0" indent="0">
              <a:buNone/>
            </a:pPr>
            <a:r>
              <a:rPr lang="en-US" sz="900" b="1" kern="0" spc="300" dirty="0">
                <a:solidFill>
                  <a:schemeClr val="accent5"/>
                </a:solidFill>
              </a:rPr>
              <a:t>TEAM</a:t>
            </a:r>
            <a:endParaRPr lang="en-US" sz="900" dirty="0"/>
          </a:p>
          <a:p>
            <a:r>
              <a:rPr lang="en-US" sz="1500" b="1">
                <a:solidFill>
                  <a:schemeClr val="accent1"/>
                </a:solidFill>
              </a:rPr>
              <a:t>CodeCrafters</a:t>
            </a:r>
            <a:endParaRPr lang="en-US" sz="900" dirty="0"/>
          </a:p>
        </p:txBody>
      </p:sp>
      <p:sp>
        <p:nvSpPr>
          <p:cNvPr id="7" name="Lead Icon Hex"/>
          <p:cNvSpPr/>
          <p:nvPr/>
        </p:nvSpPr>
        <p:spPr>
          <a:xfrm>
            <a:off x="548640" y="1463040"/>
            <a:ext cx="457200" cy="395935"/>
          </a:xfrm>
          <a:prstGeom prst="hexagon">
            <a:avLst/>
          </a:prstGeom>
          <a:solidFill>
            <a:schemeClr val="accent3"/>
          </a:solidFill>
          <a:ln/>
        </p:spPr>
        <p:txBody>
          <a:bodyPr/>
          <a:lstStyle/>
          <a:p>
            <a:endParaRPr/>
          </a:p>
        </p:txBody>
      </p:sp>
      <p:pic>
        <p:nvPicPr>
          <p:cNvPr id="8" name="Lead Icon" descr="Lightbulb icon"/>
          <p:cNvPicPr>
            <a:picLocks noChangeAspect="1"/>
          </p:cNvPicPr>
          <p:nvPr/>
        </p:nvPicPr>
        <p:blipFill>
          <a:blip r:embed="rId4"/>
          <a:stretch>
            <a:fillRect/>
          </a:stretch>
        </p:blipFill>
        <p:spPr>
          <a:xfrm>
            <a:off x="640080" y="1523390"/>
            <a:ext cx="274320" cy="274320"/>
          </a:xfrm>
          <a:prstGeom prst="rect">
            <a:avLst/>
          </a:prstGeom>
        </p:spPr>
      </p:pic>
      <p:sp>
        <p:nvSpPr>
          <p:cNvPr id="9" name="Lead Text"/>
          <p:cNvSpPr txBox="1"/>
          <p:nvPr/>
        </p:nvSpPr>
        <p:spPr>
          <a:xfrm>
            <a:off x="1170432" y="1417320"/>
            <a:ext cx="9601200" cy="502920"/>
          </a:xfrm>
          <a:prstGeom prst="rect">
            <a:avLst/>
          </a:prstGeom>
          <a:noFill/>
          <a:ln/>
        </p:spPr>
        <p:txBody>
          <a:bodyPr wrap="square" lIns="0" tIns="0" rIns="0" bIns="0" rtlCol="0" anchor="ctr"/>
          <a:lstStyle/>
          <a:p>
            <a:pPr marL="0" indent="0">
              <a:buNone/>
            </a:pPr>
            <a:r>
              <a:rPr lang="en-US" sz="1800" b="1" dirty="0">
                <a:solidFill>
                  <a:schemeClr val="accent2"/>
                </a:solidFill>
              </a:rPr>
              <a:t>Who will handle which part of the execution</a:t>
            </a:r>
            <a:endParaRPr lang="en-US" sz="1800" dirty="0"/>
          </a:p>
        </p:txBody>
      </p:sp>
      <p:graphicFrame>
        <p:nvGraphicFramePr>
          <p:cNvPr id="10" name="Team Contribution Table"/>
          <p:cNvGraphicFramePr>
            <a:graphicFrameLocks noGrp="1"/>
          </p:cNvGraphicFramePr>
          <p:nvPr>
            <p:extLst>
              <p:ext uri="{D42A27DB-BD31-4B8C-83A1-F6EECF244321}">
                <p14:modId xmlns:p14="http://schemas.microsoft.com/office/powerpoint/2010/main" val="2465483016"/>
              </p:ext>
            </p:extLst>
          </p:nvPr>
        </p:nvGraphicFramePr>
        <p:xfrm>
          <a:off x="548640" y="2194560"/>
          <a:ext cx="11094415" cy="3474720"/>
        </p:xfrm>
        <a:graphic>
          <a:graphicData uri="http://schemas.openxmlformats.org/drawingml/2006/table">
            <a:tbl>
              <a:tblPr/>
              <a:tblGrid>
                <a:gridCol w="301752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5516575">
                  <a:extLst>
                    <a:ext uri="{9D8B030D-6E8A-4147-A177-3AD203B41FA5}">
                      <a16:colId xmlns:a16="http://schemas.microsoft.com/office/drawing/2014/main" val="20002"/>
                    </a:ext>
                  </a:extLst>
                </a:gridCol>
              </a:tblGrid>
              <a:tr h="548640">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Team Member</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tc>
                  <a:txBody>
                    <a:bodyPr/>
                    <a:lstStyle/>
                    <a:p>
                      <a:pPr marL="0" indent="0">
                        <a:buNone/>
                      </a:pPr>
                      <a:r>
                        <a:rPr lang="en-US" sz="1400" b="1" dirty="0">
                          <a:solidFill>
                            <a:schemeClr val="bg1"/>
                          </a:solidFill>
                          <a:latin typeface="Calibri" pitchFamily="34" charset="0"/>
                          <a:ea typeface="Calibri" pitchFamily="34" charset="-122"/>
                          <a:cs typeface="Calibri" pitchFamily="34" charset="-120"/>
                        </a:rPr>
                        <a:t>Responsibility in Execution</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731520">
                <a:tc>
                  <a:txBody>
                    <a:bodyPr/>
                    <a:lstStyle/>
                    <a:p>
                      <a:r>
                        <a:rPr lang="en-IN" dirty="0"/>
                        <a:t>Member 1 [Name]</a:t>
                      </a:r>
                      <a:endParaRPr dirty="0"/>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731520">
                <a:tc>
                  <a:txBody>
                    <a:bodyPr/>
                    <a:lstStyle/>
                    <a:p>
                      <a:r>
                        <a:t>Member 2 [Name]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731520">
                <a:tc>
                  <a:txBody>
                    <a:bodyPr/>
                    <a:lstStyle/>
                    <a:p>
                      <a:r>
                        <a:t>Member 3 [Name]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731520">
                <a:tc>
                  <a:txBody>
                    <a:bodyPr/>
                    <a:lstStyle/>
                    <a:p>
                      <a:r>
                        <a:t>Member 4 [Name]</a:t>
                      </a: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tc>
                  <a:txBody>
                    <a:bodyPr/>
                    <a:lstStyle/>
                    <a:p>
                      <a:pPr marL="0" indent="0">
                        <a:buNone/>
                      </a:pPr>
                      <a:r>
                        <a:rPr lang="en-US" sz="1400" dirty="0">
                          <a:solidFill>
                            <a:schemeClr val="accent5"/>
                          </a:solidFill>
                          <a:latin typeface="Calibri" pitchFamily="34" charset="0"/>
                          <a:ea typeface="Calibri" pitchFamily="34" charset="-122"/>
                          <a:cs typeface="Calibri" pitchFamily="34" charset="-120"/>
                        </a:rPr>
                        <a:t>What they will handle</a:t>
                      </a:r>
                      <a:endParaRPr lang="en-US" sz="1400" dirty="0">
                        <a:latin typeface="Calibri" charset="0"/>
                        <a:ea typeface="Calibri" charset="0"/>
                        <a:cs typeface="Calibri" charset="0"/>
                      </a:endParaRPr>
                    </a:p>
                  </a:txBody>
                  <a:tcPr marL="182880" marR="182880" anchor="ctr">
                    <a:lnL w="9525" cap="flat" cmpd="sng" algn="ctr">
                      <a:solidFill>
                        <a:srgbClr val="D3E6DD"/>
                      </a:solidFill>
                      <a:prstDash val="solid"/>
                      <a:round/>
                      <a:headEnd type="none" w="med" len="med"/>
                      <a:tailEnd type="none" w="med" len="med"/>
                    </a:lnL>
                    <a:lnR w="9525" cap="flat" cmpd="sng" algn="ctr">
                      <a:solidFill>
                        <a:srgbClr val="D3E6DD"/>
                      </a:solidFill>
                      <a:prstDash val="solid"/>
                      <a:round/>
                      <a:headEnd type="none" w="med" len="med"/>
                      <a:tailEnd type="none" w="med" len="med"/>
                    </a:lnR>
                    <a:lnT w="9525" cap="flat" cmpd="sng" algn="ctr">
                      <a:solidFill>
                        <a:srgbClr val="D3E6DD"/>
                      </a:solidFill>
                      <a:prstDash val="solid"/>
                      <a:round/>
                      <a:headEnd type="none" w="med" len="med"/>
                      <a:tailEnd type="none" w="med" len="med"/>
                    </a:lnT>
                    <a:lnB w="9525" cap="flat" cmpd="sng" algn="ctr">
                      <a:solidFill>
                        <a:srgbClr val="D3E6DD"/>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59007" y="6409944"/>
            <a:ext cx="457200" cy="395935"/>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100">
                <a:solidFill>
                  <a:schemeClr val="tx2"/>
                </a:solidFill>
                <a:latin typeface="Calibri"/>
                <a:ea typeface="Calibri"/>
                <a:cs typeface="Calibri"/>
              </a:defRPr>
            </a:lvl1pPr>
          </a:lstStyle>
          <a:p>
            <a:pPr algn="ctr"/>
            <a:fld id="{F7021451-1387-4CA6-816F-3879F97B5CBC}" type="slidenum">
              <a:rPr lang="en-US" b="1"/>
              <a:t>9</a:t>
            </a:fld>
            <a:endParaRPr lang="en-US"/>
          </a:p>
        </p:txBody>
      </p:sp>
    </p:spTree>
  </p:cSld>
  <p:clrMapOvr>
    <a:masterClrMapping/>
  </p:clrMapOvr>
</p:sld>
</file>

<file path=ppt/theme/theme1.xml><?xml version="1.0" encoding="utf-8"?>
<a:theme xmlns:a="http://schemas.openxmlformats.org/drawingml/2006/main" name="Genesis Ideathon">
  <a:themeElements>
    <a:clrScheme name="Genesis Ideathon">
      <a:dk1>
        <a:srgbClr val="0E2A2F"/>
      </a:dk1>
      <a:lt1>
        <a:srgbClr val="FFFFFF"/>
      </a:lt1>
      <a:dk2>
        <a:srgbClr val="052B35"/>
      </a:dk2>
      <a:lt2>
        <a:srgbClr val="F3F8F5"/>
      </a:lt2>
      <a:accent1>
        <a:srgbClr val="026855"/>
      </a:accent1>
      <a:accent2>
        <a:srgbClr val="094542"/>
      </a:accent2>
      <a:accent3>
        <a:srgbClr val="7AC143"/>
      </a:accent3>
      <a:accent4>
        <a:srgbClr val="4FA278"/>
      </a:accent4>
      <a:accent5>
        <a:srgbClr val="5B6F6B"/>
      </a:accent5>
      <a:accent6>
        <a:srgbClr val="D3E6DD"/>
      </a:accent6>
      <a:hlink>
        <a:srgbClr val="026855"/>
      </a:hlink>
      <a:folHlink>
        <a:srgbClr val="5B6F6B"/>
      </a:folHlink>
    </a:clrScheme>
    <a:fontScheme name="Genesis Ideath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858</Words>
  <Application>Microsoft Office PowerPoint</Application>
  <PresentationFormat>Widescreen</PresentationFormat>
  <Paragraphs>125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Cambria</vt:lpstr>
      <vt:lpstr>Genesis Ideathon</vt:lpstr>
      <vt:lpstr>PowerPoint Presentation</vt:lpstr>
      <vt:lpstr>DOMAIN PROBLEM IN OUR WORDS</vt:lpstr>
      <vt:lpstr>WHO IS AFFECTED?</vt:lpstr>
      <vt:lpstr>CURRENT SITUATION &amp; CONTEXT</vt:lpstr>
      <vt:lpstr>KEY CHALLENGES</vt:lpstr>
      <vt:lpstr>EXISTING SOLUTIONS / APPROACHES</vt:lpstr>
      <vt:lpstr>PROBLEM INSIGHTS &amp; OPPORTUNITY AREAS</vt:lpstr>
      <vt:lpstr>INITIAL DIRECTION &amp; EXPECTED OUTCOME</vt:lpstr>
      <vt:lpstr>TEAM CONTRIBUTION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Genesis Ideathon – Pre-Ideathon Template</dc:title>
  <dc:subject>PptxGenJS Presentation</dc:subject>
  <dc:creator>Genesis Ideathon</dc:creator>
  <cp:lastModifiedBy>Shweta RT</cp:lastModifiedBy>
  <cp:revision>2</cp:revision>
  <dcterms:created xsi:type="dcterms:W3CDTF">2026-10-07T15:27:40Z</dcterms:created>
  <dcterms:modified xsi:type="dcterms:W3CDTF">2026-10-09T17:44:44Z</dcterms:modified>
</cp:coreProperties>
</file>